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0A5FA"/>
                </a:solidFill>
              </a:rPr>
              <a:t>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94A3B8"/>
                </a:solidFill>
              </a:rPr>
              <a:t>Building Autonomous Intelligent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4748B"/>
                </a:solidFill>
              </a:rPr>
              <a:t>OLI-AAI-101 | OpenClaw Learning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What is Agentic AI?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Agentic AI refers to AI systems that can </a:t>
            </a:r>
            <a:r>
              <a:rPr sz="2000" b="1" i="0">
                <a:solidFill>
                  <a:srgbClr val="CBD5E1"/>
                </a:solidFill>
              </a:rPr>
              <a:t>independently</a:t>
            </a:r>
            <a:r>
              <a:rPr sz="2000" b="0" i="0">
                <a:solidFill>
                  <a:srgbClr val="CBD5E1"/>
                </a:solidFill>
              </a:rPr>
              <a:t> perceive their environment, make decisions, take actions, and learn from outcomes — with minimal human guidance.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10515600" cy="100584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54864" cy="10058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0A5FA"/>
                </a:solidFill>
              </a:rPr>
              <a:t>Key Idea: </a:t>
            </a:r>
            <a:r>
              <a:rPr sz="1800" b="0" i="0">
                <a:solidFill>
                  <a:srgbClr val="CBD5E1"/>
                </a:solidFill>
              </a:rPr>
              <a:t>An AI agent doesn't just answer questions — it </a:t>
            </a:r>
            <a:r>
              <a:rPr sz="1800" b="0" i="1">
                <a:solidFill>
                  <a:srgbClr val="CBD5E1"/>
                </a:solidFill>
              </a:rPr>
              <a:t>does things</a:t>
            </a:r>
            <a:r>
              <a:rPr sz="1800" b="0" i="0">
                <a:solidFill>
                  <a:srgbClr val="CBD5E1"/>
                </a:solidFill>
              </a:rPr>
              <a:t>. It reasons about what to do, uses tools, and works toward goals on its 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2000" b="1">
                <a:solidFill>
                  <a:srgbClr val="A78BFA"/>
                </a:solidFill>
              </a:rPr>
              <a:t>▸  </a:t>
            </a:r>
            <a:r>
              <a:rPr sz="2000">
                <a:solidFill>
                  <a:srgbClr val="CBD5E1"/>
                </a:solidFill>
              </a:rPr>
              <a:t>Goes beyond simple chatbots and autocomplete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2000" b="1">
                <a:solidFill>
                  <a:srgbClr val="A78BFA"/>
                </a:solidFill>
              </a:rPr>
              <a:t>▸  </a:t>
            </a:r>
            <a:r>
              <a:rPr sz="2000">
                <a:solidFill>
                  <a:srgbClr val="CBD5E1"/>
                </a:solidFill>
              </a:rPr>
              <a:t>Can break complex tasks into steps and execute them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2000" b="1">
                <a:solidFill>
                  <a:srgbClr val="A78BFA"/>
                </a:solidFill>
              </a:rPr>
              <a:t>▸  </a:t>
            </a:r>
            <a:r>
              <a:rPr sz="2000">
                <a:solidFill>
                  <a:srgbClr val="CBD5E1"/>
                </a:solidFill>
              </a:rPr>
              <a:t>Interacts with the real world through tools and APIs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Traditional AI vs. Agentic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A78BFA"/>
                </a:solidFill>
              </a:rPr>
              <a:t>Traditional AI / Chatbots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>
                <a:solidFill>
                  <a:srgbClr val="CBD5E1"/>
                </a:solidFill>
              </a:rPr>
              <a:t>Responds only when prompted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>
                <a:solidFill>
                  <a:srgbClr val="CBD5E1"/>
                </a:solidFill>
              </a:rPr>
              <a:t>Single turn: question in, answer out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>
                <a:solidFill>
                  <a:srgbClr val="CBD5E1"/>
                </a:solidFill>
              </a:rPr>
              <a:t>No memory across interactions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>
                <a:solidFill>
                  <a:srgbClr val="CBD5E1"/>
                </a:solidFill>
              </a:rPr>
              <a:t>Cannot take actions in the world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>
                <a:solidFill>
                  <a:srgbClr val="CBD5E1"/>
                </a:solidFill>
              </a:rPr>
              <a:t>Human does all the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A78BFA"/>
                </a:solidFill>
              </a:rPr>
              <a:t>Agentic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>
                <a:solidFill>
                  <a:srgbClr val="CBD5E1"/>
                </a:solidFill>
              </a:rPr>
              <a:t>Proactively works toward goals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>
                <a:solidFill>
                  <a:srgbClr val="CBD5E1"/>
                </a:solidFill>
              </a:rPr>
              <a:t>Multi-step reasoning and execution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>
                <a:solidFill>
                  <a:srgbClr val="CBD5E1"/>
                </a:solidFill>
              </a:rPr>
              <a:t>Maintains memory and context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>
                <a:solidFill>
                  <a:srgbClr val="CBD5E1"/>
                </a:solidFill>
              </a:rPr>
              <a:t>Uses tools (search, code, APIs)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>
                <a:solidFill>
                  <a:srgbClr val="CBD5E1"/>
                </a:solidFill>
              </a:rPr>
              <a:t>Plans, acts, and self-corrects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Core Components of an AI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727" y="16459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Perception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Observe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49727" y="1874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1247" y="16459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Reasoning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Think &amp;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67247" y="1874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98767" y="16459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Action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Use tools &amp; 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767" y="1874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16287" y="164592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Learning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Reflect &amp; improve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Perception: </a:t>
            </a:r>
            <a:r>
              <a:rPr sz="1800" b="0" i="0">
                <a:solidFill>
                  <a:srgbClr val="CBD5E1"/>
                </a:solidFill>
              </a:rPr>
              <a:t>The agent receives input — a user request, sensor data, or system event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Reasoning: </a:t>
            </a:r>
            <a:r>
              <a:rPr sz="1800" b="0" i="0">
                <a:solidFill>
                  <a:srgbClr val="CBD5E1"/>
                </a:solidFill>
              </a:rPr>
              <a:t>An LLM (like Claude or GPT) thinks through what to do next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Action: </a:t>
            </a:r>
            <a:r>
              <a:rPr sz="1800" b="0" i="0">
                <a:solidFill>
                  <a:srgbClr val="CBD5E1"/>
                </a:solidFill>
              </a:rPr>
              <a:t>The agent calls tools, writes code, searches the web, or sends messages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Learning: </a:t>
            </a:r>
            <a:r>
              <a:rPr sz="1800" b="0" i="0">
                <a:solidFill>
                  <a:srgbClr val="CBD5E1"/>
                </a:solidFill>
              </a:rPr>
              <a:t>The agent reflects on results and adjusts its approach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LLMs: The Brain of the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Large Language Models (LLMs) like Claude, GPT, and Gemini serve as the </a:t>
            </a:r>
            <a:r>
              <a:rPr sz="2000" b="1" i="0">
                <a:solidFill>
                  <a:srgbClr val="CBD5E1"/>
                </a:solidFill>
              </a:rPr>
              <a:t>reasoning engine</a:t>
            </a:r>
            <a:r>
              <a:rPr sz="2000" b="0" i="0">
                <a:solidFill>
                  <a:srgbClr val="CBD5E1"/>
                </a:solidFill>
              </a:rPr>
              <a:t> inside modern AI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Natural language understanding</a:t>
            </a:r>
            <a:r>
              <a:rPr sz="1800" b="0" i="0">
                <a:solidFill>
                  <a:srgbClr val="CBD5E1"/>
                </a:solidFill>
              </a:rPr>
              <a:t> — interpret complex user requests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Planning</a:t>
            </a:r>
            <a:r>
              <a:rPr sz="1800" b="0" i="0">
                <a:solidFill>
                  <a:srgbClr val="CBD5E1"/>
                </a:solidFill>
              </a:rPr>
              <a:t> — break big tasks into smaller steps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Decision making</a:t>
            </a:r>
            <a:r>
              <a:rPr sz="1800" b="0" i="0">
                <a:solidFill>
                  <a:srgbClr val="CBD5E1"/>
                </a:solidFill>
              </a:rPr>
              <a:t> — choose which tool to use and when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Code generation</a:t>
            </a:r>
            <a:r>
              <a:rPr sz="1800" b="0" i="0">
                <a:solidFill>
                  <a:srgbClr val="CBD5E1"/>
                </a:solidFill>
              </a:rPr>
              <a:t> — write and debug code on the fly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Self-reflection</a:t>
            </a:r>
            <a:r>
              <a:rPr sz="1800" b="0" i="0">
                <a:solidFill>
                  <a:srgbClr val="CBD5E1"/>
                </a:solidFill>
              </a:rPr>
              <a:t> — evaluate their own outputs and retry if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10515600" cy="82296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54864" cy="8229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BD5E1"/>
                </a:solidFill>
              </a:rPr>
              <a:t>The LLM doesn't just generate text — it </a:t>
            </a:r>
            <a:r>
              <a:rPr sz="1800" b="0" i="1">
                <a:solidFill>
                  <a:srgbClr val="CBD5E1"/>
                </a:solidFill>
              </a:rPr>
              <a:t>orchestrates</a:t>
            </a:r>
            <a:r>
              <a:rPr sz="1800" b="0" i="0">
                <a:solidFill>
                  <a:srgbClr val="CBD5E1"/>
                </a:solidFill>
              </a:rPr>
              <a:t> an entire workflow of reasoning, tool use, and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The ReAct Pattern (Reasoning + Acting)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ReAct is a foundational pattern where the agent alternates between </a:t>
            </a:r>
            <a:r>
              <a:rPr sz="2000" b="1" i="0">
                <a:solidFill>
                  <a:srgbClr val="CBD5E1"/>
                </a:solidFill>
              </a:rPr>
              <a:t>thinking</a:t>
            </a:r>
            <a:r>
              <a:rPr sz="2000" b="0" i="0">
                <a:solidFill>
                  <a:srgbClr val="CBD5E1"/>
                </a:solidFill>
              </a:rPr>
              <a:t> and </a:t>
            </a:r>
            <a:r>
              <a:rPr sz="2000" b="1" i="0">
                <a:solidFill>
                  <a:srgbClr val="CBD5E1"/>
                </a:solidFill>
              </a:rPr>
              <a:t>doing</a:t>
            </a:r>
            <a:r>
              <a:rPr sz="2000" b="0" i="0">
                <a:solidFill>
                  <a:srgbClr val="CBD5E1"/>
                </a:solidFill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228600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Thought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"I need to find..."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9727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81247" y="228600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Action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search("query")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247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98767" y="228600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Observation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Results returned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4767" y="2514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6287" y="2286000"/>
            <a:ext cx="2011680" cy="91440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E0E0E0"/>
                </a:solidFill>
              </a:rPr>
              <a:t>Thought</a:t>
            </a:r>
          </a:p>
          <a:p>
            <a:pPr algn="ctr"/>
            <a:r>
              <a:rPr sz="1200">
                <a:solidFill>
                  <a:srgbClr val="94A3B8"/>
                </a:solidFill>
              </a:rPr>
              <a:t>"Now I know..."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0" i="0">
                <a:solidFill>
                  <a:srgbClr val="CBD5E1"/>
                </a:solidFill>
              </a:rPr>
              <a:t>The agent </a:t>
            </a:r>
            <a:r>
              <a:rPr sz="1800" b="1" i="0">
                <a:solidFill>
                  <a:srgbClr val="CBD5E1"/>
                </a:solidFill>
              </a:rPr>
              <a:t>thinks out loud</a:t>
            </a:r>
            <a:r>
              <a:rPr sz="1800" b="0" i="0">
                <a:solidFill>
                  <a:srgbClr val="CBD5E1"/>
                </a:solidFill>
              </a:rPr>
              <a:t> about what it needs to do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0" i="0">
                <a:solidFill>
                  <a:srgbClr val="CBD5E1"/>
                </a:solidFill>
              </a:rPr>
              <a:t>It then </a:t>
            </a:r>
            <a:r>
              <a:rPr sz="1800" b="1" i="0">
                <a:solidFill>
                  <a:srgbClr val="CBD5E1"/>
                </a:solidFill>
              </a:rPr>
              <a:t>takes an action</a:t>
            </a:r>
            <a:r>
              <a:rPr sz="1800" b="0" i="0">
                <a:solidFill>
                  <a:srgbClr val="CBD5E1"/>
                </a:solidFill>
              </a:rPr>
              <a:t> (e.g., call a tool)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0" i="0">
                <a:solidFill>
                  <a:srgbClr val="CBD5E1"/>
                </a:solidFill>
              </a:rPr>
              <a:t>It </a:t>
            </a:r>
            <a:r>
              <a:rPr sz="1800" b="1" i="0">
                <a:solidFill>
                  <a:srgbClr val="CBD5E1"/>
                </a:solidFill>
              </a:rPr>
              <a:t>observes</a:t>
            </a:r>
            <a:r>
              <a:rPr sz="1800" b="0" i="0">
                <a:solidFill>
                  <a:srgbClr val="CBD5E1"/>
                </a:solidFill>
              </a:rPr>
              <a:t> the result and decides the next step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>
                <a:solidFill>
                  <a:srgbClr val="CBD5E1"/>
                </a:solidFill>
              </a:rPr>
              <a:t>This loop repeats until the task is complete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Tool Use: How Agents Interact with the World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Agents become truly useful when they can </a:t>
            </a:r>
            <a:r>
              <a:rPr sz="2000" b="1" i="0">
                <a:solidFill>
                  <a:srgbClr val="CBD5E1"/>
                </a:solidFill>
              </a:rPr>
              <a:t>use tools</a:t>
            </a:r>
            <a:r>
              <a:rPr sz="2000" b="0" i="0">
                <a:solidFill>
                  <a:srgbClr val="CBD5E1"/>
                </a:solidFill>
              </a:rPr>
              <a:t> — external functions that extend their capabilities beyond text 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Web Search</a:t>
            </a:r>
            <a:r>
              <a:rPr sz="1800" b="0" i="0">
                <a:solidFill>
                  <a:srgbClr val="CBD5E1"/>
                </a:solidFill>
              </a:rPr>
              <a:t> — look up current information online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Code Execution</a:t>
            </a:r>
            <a:r>
              <a:rPr sz="1800" b="0" i="0">
                <a:solidFill>
                  <a:srgbClr val="CBD5E1"/>
                </a:solidFill>
              </a:rPr>
              <a:t> — write and run Python, JavaScript, etc.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File Operations</a:t>
            </a:r>
            <a:r>
              <a:rPr sz="1800" b="0" i="0">
                <a:solidFill>
                  <a:srgbClr val="CBD5E1"/>
                </a:solidFill>
              </a:rPr>
              <a:t> — read, write, and manage files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API Calls</a:t>
            </a:r>
            <a:r>
              <a:rPr sz="1800" b="0" i="0">
                <a:solidFill>
                  <a:srgbClr val="CBD5E1"/>
                </a:solidFill>
              </a:rPr>
              <a:t> — interact with databases, services, and platforms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Calculators &amp; Data Tools</a:t>
            </a:r>
            <a:r>
              <a:rPr sz="1800" b="0" i="0">
                <a:solidFill>
                  <a:srgbClr val="CBD5E1"/>
                </a:solidFill>
              </a:rPr>
              <a:t> — perform precise computations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846320"/>
            <a:ext cx="10515600" cy="9144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54864" cy="914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83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0A5FA"/>
                </a:solidFill>
              </a:rPr>
              <a:t>Example: </a:t>
            </a:r>
            <a:r>
              <a:rPr sz="1800" b="0" i="0">
                <a:solidFill>
                  <a:srgbClr val="CBD5E1"/>
                </a:solidFill>
              </a:rPr>
              <a:t>"What's the weather in Nairobi?" — The agent calls a weather API, gets live data, and presents the answer.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Agent Memory: Remembering and Retrieving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Without memory, agents forget everything between interactions. Memory systems give agents </a:t>
            </a:r>
            <a:r>
              <a:rPr sz="2000" b="1" i="0">
                <a:solidFill>
                  <a:srgbClr val="CBD5E1"/>
                </a:solidFill>
              </a:rPr>
              <a:t>continuity</a:t>
            </a:r>
            <a:r>
              <a:rPr sz="2000" b="0" i="0">
                <a:solidFill>
                  <a:srgbClr val="CBD5E1"/>
                </a:solidFill>
              </a:rPr>
              <a:t> and </a:t>
            </a:r>
            <a:r>
              <a:rPr sz="2000" b="1" i="0">
                <a:solidFill>
                  <a:srgbClr val="CBD5E1"/>
                </a:solidFill>
              </a:rPr>
              <a:t>context</a:t>
            </a:r>
            <a:r>
              <a:rPr sz="2000" b="0" i="0">
                <a:solidFill>
                  <a:srgbClr val="CBD5E1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A78BFA"/>
                </a:solidFill>
              </a:rPr>
              <a:t>Short-Term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Current conversation context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Working notes during a task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Limited by context window size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A78BFA"/>
                </a:solidFill>
              </a:rPr>
              <a:t>Long-Term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Stored in vector databases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Persists across sessions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700" b="1">
                <a:solidFill>
                  <a:srgbClr val="A78BFA"/>
                </a:solidFill>
              </a:rPr>
              <a:t>▸  </a:t>
            </a:r>
            <a:r>
              <a:rPr sz="1700">
                <a:solidFill>
                  <a:srgbClr val="CBD5E1"/>
                </a:solidFill>
              </a:rPr>
              <a:t>Retrieved via similarity search (RAG)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846320"/>
            <a:ext cx="10515600" cy="9144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54864" cy="914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9834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60A5FA"/>
                </a:solidFill>
              </a:rPr>
              <a:t>RAG (Retrieval-Augmented Generation): </a:t>
            </a:r>
            <a:r>
              <a:rPr sz="1800" b="0" i="0">
                <a:solidFill>
                  <a:srgbClr val="CBD5E1"/>
                </a:solidFill>
              </a:rPr>
              <a:t>The agent searches a knowledge base for relevant info and includes it in its reasoning.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How Agents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For complex tasks, agents need to </a:t>
            </a:r>
            <a:r>
              <a:rPr sz="2000" b="1" i="0">
                <a:solidFill>
                  <a:srgbClr val="CBD5E1"/>
                </a:solidFill>
              </a:rPr>
              <a:t>plan ahead</a:t>
            </a:r>
            <a:r>
              <a:rPr sz="2000" b="0" i="0">
                <a:solidFill>
                  <a:srgbClr val="CBD5E1"/>
                </a:solidFill>
              </a:rPr>
              <a:t> rather than just react step-by-step.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Plan-and-Execute: </a:t>
            </a:r>
            <a:r>
              <a:rPr sz="1800" b="0" i="0">
                <a:solidFill>
                  <a:srgbClr val="CBD5E1"/>
                </a:solidFill>
              </a:rPr>
              <a:t>First create a full plan, then execute each step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Chain-of-Thought: </a:t>
            </a:r>
            <a:r>
              <a:rPr sz="1800" b="0" i="0">
                <a:solidFill>
                  <a:srgbClr val="CBD5E1"/>
                </a:solidFill>
              </a:rPr>
              <a:t>Reason through the problem step-by-step before acting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Tree-of-Thought: </a:t>
            </a:r>
            <a:r>
              <a:rPr sz="1800" b="0" i="0">
                <a:solidFill>
                  <a:srgbClr val="CBD5E1"/>
                </a:solidFill>
              </a:rPr>
              <a:t>Explore multiple reasoning paths and pick the best one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Reflexion: </a:t>
            </a:r>
            <a:r>
              <a:rPr sz="1800" b="0" i="0">
                <a:solidFill>
                  <a:srgbClr val="CBD5E1"/>
                </a:solidFill>
              </a:rPr>
              <a:t>After completing a task, reflect on what went wrong and improve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10515600" cy="128016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389120"/>
            <a:ext cx="54864" cy="12801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262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60A5FA"/>
                </a:solidFill>
              </a:rPr>
              <a:t>Example — Plan-and-Execute:</a:t>
            </a:r>
          </a:p>
          <a:p>
            <a:r>
              <a:rPr sz="1600" b="0" i="0">
                <a:solidFill>
                  <a:srgbClr val="CBD5E1"/>
                </a:solidFill>
              </a:rPr>
              <a:t>1. Research the topic → 2. Outline the article → 3. Write each section → 4. Review and edit → 5. Format and deliver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Multi-Agent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Instead of one agent doing everything, </a:t>
            </a:r>
            <a:r>
              <a:rPr sz="2000" b="1" i="0">
                <a:solidFill>
                  <a:srgbClr val="CBD5E1"/>
                </a:solidFill>
              </a:rPr>
              <a:t>multiple specialized agents</a:t>
            </a:r>
            <a:r>
              <a:rPr sz="2000" b="0" i="0">
                <a:solidFill>
                  <a:srgbClr val="CBD5E1"/>
                </a:solidFill>
              </a:rPr>
              <a:t> can collaborate — each with its own role and expertise.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017520"/>
            <a:ext cx="2011680" cy="73152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E0E0E0"/>
                </a:solidFill>
              </a:rPr>
              <a:t>Orchestrator
Assigns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4231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286000"/>
            <a:ext cx="2011680" cy="73152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E0E0E0"/>
                </a:solidFill>
              </a:rPr>
              <a:t>Researcher
Finds 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3375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200400"/>
            <a:ext cx="2011680" cy="73152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E0E0E0"/>
                </a:solidFill>
              </a:rPr>
              <a:t>Writer
Drafts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2519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60A5FA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114800"/>
            <a:ext cx="2011680" cy="731520"/>
          </a:xfrm>
          <a:prstGeom prst="roundRect">
            <a:avLst/>
          </a:prstGeom>
          <a:solidFill>
            <a:srgbClr val="1A1535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E0E0E0"/>
                </a:solidFill>
              </a:rPr>
              <a:t>Reviewer
Checks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>
                <a:solidFill>
                  <a:srgbClr val="CBD5E1"/>
                </a:solidFill>
              </a:rPr>
              <a:t>Each agent focuses on what it does best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>
                <a:solidFill>
                  <a:srgbClr val="CBD5E1"/>
                </a:solidFill>
              </a:rPr>
              <a:t>Agents communicate through messages or shared state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0" i="0">
                <a:solidFill>
                  <a:srgbClr val="CBD5E1"/>
                </a:solidFill>
              </a:rPr>
              <a:t>Frameworks like </a:t>
            </a:r>
            <a:r>
              <a:rPr sz="1800" b="1" i="0">
                <a:solidFill>
                  <a:srgbClr val="CBD5E1"/>
                </a:solidFill>
              </a:rPr>
              <a:t>CrewAI</a:t>
            </a:r>
            <a:r>
              <a:rPr sz="1800" b="0" i="0">
                <a:solidFill>
                  <a:srgbClr val="CBD5E1"/>
                </a:solidFill>
              </a:rPr>
              <a:t>, </a:t>
            </a:r>
            <a:r>
              <a:rPr sz="1800" b="1" i="0">
                <a:solidFill>
                  <a:srgbClr val="CBD5E1"/>
                </a:solidFill>
              </a:rPr>
              <a:t>AutoGen</a:t>
            </a:r>
            <a:r>
              <a:rPr sz="1800" b="0" i="0">
                <a:solidFill>
                  <a:srgbClr val="CBD5E1"/>
                </a:solidFill>
              </a:rPr>
              <a:t>, and </a:t>
            </a:r>
            <a:r>
              <a:rPr sz="1800" b="1" i="0">
                <a:solidFill>
                  <a:srgbClr val="CBD5E1"/>
                </a:solidFill>
              </a:rPr>
              <a:t>LangGraph</a:t>
            </a:r>
            <a:r>
              <a:rPr sz="1800" b="0" i="0">
                <a:solidFill>
                  <a:srgbClr val="CBD5E1"/>
                </a:solidFill>
              </a:rPr>
              <a:t> make this easier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Real-World Applications of Agentic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Domain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Application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Software Engineering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Coding agents that write, debug, and deploy code (e.g., Claude Code, Devin)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Research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Agents that read papers, summarize findings, and generate hypotheses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Customer Support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Autonomous agents that resolve tickets, look up accounts, and escalate issues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Data Analysis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Agents that query databases, create charts, and write reports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Business Operations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Workflow automation — scheduling, invoicing, email management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Education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Personalized tutoring agents that adapt to each student's pace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Popular Agent Frameworks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3152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Framework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LangChain / LangGraph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General-purpose agent building with flexible tool integration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CrewAI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Multi-agent collaboration with role-based agents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AutoGen (Microsoft)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Conversational multi-agent patterns and code execution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OpenClaw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Our platform — hands-on agent building and deployment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Anthropic Agent SDK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Building agents powered by Claude with native tool use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5029200"/>
            <a:ext cx="10515600" cy="82296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54864" cy="82296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BD5E1"/>
                </a:solidFill>
              </a:rPr>
              <a:t>In this course, we will primarily use </a:t>
            </a:r>
            <a:r>
              <a:rPr sz="1800" b="1" i="0">
                <a:solidFill>
                  <a:srgbClr val="CBD5E1"/>
                </a:solidFill>
              </a:rPr>
              <a:t>OpenClaw</a:t>
            </a:r>
            <a:r>
              <a:rPr sz="1800" b="0" i="0">
                <a:solidFill>
                  <a:srgbClr val="CBD5E1"/>
                </a:solidFill>
              </a:rPr>
              <a:t> along with LangChain and CrewAI for hands-on labs.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Safety, Ethics &amp;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CBD5E1"/>
                </a:solidFill>
              </a:rPr>
              <a:t>Autonomous agents are powerful — but they need </a:t>
            </a:r>
            <a:r>
              <a:rPr sz="2000" b="1" i="0">
                <a:solidFill>
                  <a:srgbClr val="CBD5E1"/>
                </a:solidFill>
              </a:rPr>
              <a:t>boundaries</a:t>
            </a:r>
            <a:r>
              <a:rPr sz="2000" b="0" i="0">
                <a:solidFill>
                  <a:srgbClr val="CBD5E1"/>
                </a:solidFill>
              </a:rPr>
              <a:t> to operate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Hallucination Risk: </a:t>
            </a:r>
            <a:r>
              <a:rPr sz="1800" b="0" i="0">
                <a:solidFill>
                  <a:srgbClr val="CBD5E1"/>
                </a:solidFill>
              </a:rPr>
              <a:t>Agents can act on incorrect information — always verify critical outputs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Infinite Loops: </a:t>
            </a:r>
            <a:r>
              <a:rPr sz="1800" b="0" i="0">
                <a:solidFill>
                  <a:srgbClr val="CBD5E1"/>
                </a:solidFill>
              </a:rPr>
              <a:t>Without limits, agents may repeat actions endlessly — set max iterations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Harmful Actions: </a:t>
            </a:r>
            <a:r>
              <a:rPr sz="1800" b="0" i="0">
                <a:solidFill>
                  <a:srgbClr val="CBD5E1"/>
                </a:solidFill>
              </a:rPr>
              <a:t>Agents with file/system access need sandboxing and permission controls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Human-in-the-Loop: </a:t>
            </a:r>
            <a:r>
              <a:rPr sz="1800" b="0" i="0">
                <a:solidFill>
                  <a:srgbClr val="CBD5E1"/>
                </a:solidFill>
              </a:rPr>
              <a:t>For high-stakes decisions, require human approval before execution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Transparency: </a:t>
            </a:r>
            <a:r>
              <a:rPr sz="1800" b="0" i="0">
                <a:solidFill>
                  <a:srgbClr val="CBD5E1"/>
                </a:solidFill>
              </a:rPr>
              <a:t>Log all agent reasoning and actions for auditability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800" b="1">
                <a:solidFill>
                  <a:srgbClr val="A78BFA"/>
                </a:solidFill>
              </a:rPr>
              <a:t>▸  </a:t>
            </a:r>
            <a:r>
              <a:rPr sz="1800" b="1" i="0">
                <a:solidFill>
                  <a:srgbClr val="60A5FA"/>
                </a:solidFill>
              </a:rPr>
              <a:t>Bias &amp; Fairness: </a:t>
            </a:r>
            <a:r>
              <a:rPr sz="1800" b="0" i="0">
                <a:solidFill>
                  <a:srgbClr val="CBD5E1"/>
                </a:solidFill>
              </a:rPr>
              <a:t>Agents inherit biases from their training data — test for and mitigate bias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Course Structure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0"/>
              </a:tblGrid>
              <a:tr h="4572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Week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60A5FA"/>
                          </a:solidFill>
                        </a:rPr>
                        <a:t>Topic</a:t>
                      </a:r>
                    </a:p>
                  </a:txBody>
                  <a:tcPr>
                    <a:solidFill>
                      <a:srgbClr val="15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Introduction to Agentic AI &amp; The Agent Landscape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LLMs as Reasoning Engines &amp; The ReAct Pattern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Tool Use &amp; External Integrations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Memory &amp; Context Management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Planning Architectures &amp; Self-Reflection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Multi-Agent Systems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Safety, Ethics &amp; Evaluation</a:t>
                      </a:r>
                    </a:p>
                  </a:txBody>
                  <a:tcPr>
                    <a:solidFill>
                      <a:srgbClr val="0F14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BD5E1"/>
                          </a:solidFill>
                        </a:rPr>
                        <a:t>Capstone Projects &amp; Future Directions</a:t>
                      </a:r>
                    </a:p>
                  </a:txBody>
                  <a:tcPr>
                    <a:solidFill>
                      <a:srgbClr val="121A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60A5FA"/>
                </a:solidFill>
              </a:rPr>
              <a:t>What You Will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9144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1" i="0">
                <a:solidFill>
                  <a:srgbClr val="60A5FA"/>
                </a:solidFill>
              </a:rPr>
              <a:t>Lab 1: </a:t>
            </a:r>
            <a:r>
              <a:rPr sz="1900" b="0" i="0">
                <a:solidFill>
                  <a:srgbClr val="CBD5E1"/>
                </a:solidFill>
              </a:rPr>
              <a:t>A ReAct agent from scratch — observe the think-act-observe loop in action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1" i="0">
                <a:solidFill>
                  <a:srgbClr val="60A5FA"/>
                </a:solidFill>
              </a:rPr>
              <a:t>Lab 2: </a:t>
            </a:r>
            <a:r>
              <a:rPr sz="1900" b="0" i="0">
                <a:solidFill>
                  <a:srgbClr val="CBD5E1"/>
                </a:solidFill>
              </a:rPr>
              <a:t>A tool-augmented Q&amp;A agent — search the web, read files, answer questions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1" i="0">
                <a:solidFill>
                  <a:srgbClr val="60A5FA"/>
                </a:solidFill>
              </a:rPr>
              <a:t>Lab 3: </a:t>
            </a:r>
            <a:r>
              <a:rPr sz="1900" b="0" i="0">
                <a:solidFill>
                  <a:srgbClr val="CBD5E1"/>
                </a:solidFill>
              </a:rPr>
              <a:t>An agent with persistent memory — remember past conversations using vector search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1" i="0">
                <a:solidFill>
                  <a:srgbClr val="60A5FA"/>
                </a:solidFill>
              </a:rPr>
              <a:t>Lab 4: </a:t>
            </a:r>
            <a:r>
              <a:rPr sz="1900" b="0" i="0">
                <a:solidFill>
                  <a:srgbClr val="CBD5E1"/>
                </a:solidFill>
              </a:rPr>
              <a:t>A multi-agent research team — researcher, writer, and reviewer working together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sz="1900" b="1">
                <a:solidFill>
                  <a:srgbClr val="A78BFA"/>
                </a:solidFill>
              </a:rPr>
              <a:t>▸  </a:t>
            </a:r>
            <a:r>
              <a:rPr sz="1900" b="1" i="0">
                <a:solidFill>
                  <a:srgbClr val="60A5FA"/>
                </a:solidFill>
              </a:rPr>
              <a:t>Capstone: </a:t>
            </a:r>
            <a:r>
              <a:rPr sz="1900" b="0" i="0">
                <a:solidFill>
                  <a:srgbClr val="CBD5E1"/>
                </a:solidFill>
              </a:rPr>
              <a:t>A complete agentic system solving a real-world problem of your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solidFill>
            <a:srgbClr val="12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54864" cy="914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CBD5E1"/>
                </a:solidFill>
              </a:rPr>
              <a:t>By the end of this course, you won't just understand Agentic AI — you'll have </a:t>
            </a:r>
            <a:r>
              <a:rPr sz="1800" b="1" i="0">
                <a:solidFill>
                  <a:srgbClr val="CBD5E1"/>
                </a:solidFill>
              </a:rPr>
              <a:t>built</a:t>
            </a:r>
            <a:r>
              <a:rPr sz="1800" b="0" i="0">
                <a:solidFill>
                  <a:srgbClr val="CBD5E1"/>
                </a:solidFill>
              </a:rPr>
              <a:t> multiple working agents.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60A5FA"/>
                </a:solidFill>
              </a:rPr>
              <a:t>Let's Build the Future of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>
                <a:solidFill>
                  <a:srgbClr val="94A3B8"/>
                </a:solidFill>
              </a:rPr>
              <a:t>Welcome to Agentic AI — OLI-AAI-101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</a:rPr>
              <a:t>OpenClaw Learning Initiative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