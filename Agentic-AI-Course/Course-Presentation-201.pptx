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60A5FA"/>
                </a:solidFill>
              </a:rPr>
              <a:t>Agentic AI: Agents Building in the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94A3B8"/>
                </a:solidFill>
              </a:rPr>
              <a:t>Learn by Building the Platform You’re Learning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OLI-AAI-201 | OpenClaw Learning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Welcome to OLI-AAI-201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In OLI-AAI-101 you learned </a:t>
            </a:r>
            <a:r>
              <a:rPr sz="2000" b="1" i="0">
                <a:solidFill>
                  <a:srgbClr val="CBD5E1"/>
                </a:solidFill>
              </a:rPr>
              <a:t>what</a:t>
            </a:r>
            <a:r>
              <a:rPr sz="2000" b="0" i="0">
                <a:solidFill>
                  <a:srgbClr val="CBD5E1"/>
                </a:solidFill>
              </a:rPr>
              <a:t> AI agents are. In this course, you’ll learn how agents </a:t>
            </a:r>
            <a:r>
              <a:rPr sz="2000" b="1" i="0">
                <a:solidFill>
                  <a:srgbClr val="CBD5E1"/>
                </a:solidFill>
              </a:rPr>
              <a:t>build real software</a:t>
            </a:r>
            <a:r>
              <a:rPr sz="2000" b="0" i="0">
                <a:solidFill>
                  <a:srgbClr val="CBD5E1"/>
                </a:solidFill>
              </a:rPr>
              <a:t> — by contributing to the very platform you’re using right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54864" cy="10058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0A5FA"/>
                </a:solidFill>
              </a:rPr>
              <a:t>The Meta-Learning Model: </a:t>
            </a:r>
            <a:r>
              <a:rPr sz="1800" b="0" i="0">
                <a:solidFill>
                  <a:srgbClr val="CBD5E1"/>
                </a:solidFill>
              </a:rPr>
              <a:t>This course was partially generated by AI agents. The slides you’re reading, the quizzes you’ll take, and the features you’ll build all live in the same open-source codebase.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2000" b="1">
                <a:solidFill>
                  <a:srgbClr val="A78BFA"/>
                </a:solidFill>
              </a:rPr>
              <a:t>▸  </a:t>
            </a:r>
            <a:r>
              <a:rPr sz="2000" b="0" i="0">
                <a:solidFill>
                  <a:srgbClr val="CBD5E1"/>
                </a:solidFill>
              </a:rPr>
              <a:t>You are both a </a:t>
            </a:r>
            <a:r>
              <a:rPr sz="2000" b="1" i="0">
                <a:solidFill>
                  <a:srgbClr val="CBD5E1"/>
                </a:solidFill>
              </a:rPr>
              <a:t>student</a:t>
            </a:r>
            <a:r>
              <a:rPr sz="2000" b="0" i="0">
                <a:solidFill>
                  <a:srgbClr val="CBD5E1"/>
                </a:solidFill>
              </a:rPr>
              <a:t> and an </a:t>
            </a:r>
            <a:r>
              <a:rPr sz="2000" b="1" i="0">
                <a:solidFill>
                  <a:srgbClr val="CBD5E1"/>
                </a:solidFill>
              </a:rPr>
              <a:t>open-source contributor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2000" b="1">
                <a:solidFill>
                  <a:srgbClr val="A78BFA"/>
                </a:solidFill>
              </a:rPr>
              <a:t>▸  </a:t>
            </a:r>
            <a:r>
              <a:rPr sz="2000" b="0" i="0">
                <a:solidFill>
                  <a:srgbClr val="CBD5E1"/>
                </a:solidFill>
              </a:rPr>
              <a:t>AI agents are your </a:t>
            </a:r>
            <a:r>
              <a:rPr sz="2000" b="1" i="0">
                <a:solidFill>
                  <a:srgbClr val="CBD5E1"/>
                </a:solidFill>
              </a:rPr>
              <a:t>pair programming partners</a:t>
            </a:r>
            <a:r>
              <a:rPr sz="2000" b="0" i="0">
                <a:solidFill>
                  <a:srgbClr val="CBD5E1"/>
                </a:solidFill>
              </a:rPr>
              <a:t>, not replacements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2000" b="1">
                <a:solidFill>
                  <a:srgbClr val="A78BFA"/>
                </a:solidFill>
              </a:rPr>
              <a:t>▸  </a:t>
            </a:r>
            <a:r>
              <a:rPr sz="2000">
                <a:solidFill>
                  <a:srgbClr val="CBD5E1"/>
                </a:solidFill>
              </a:rPr>
              <a:t>Every feature you ship becomes part of the platform for future students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The Scwripts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</a:rPr>
              <a:t>Scwripts is a full-stack education platform. Understanding its architecture is the first step to contributing.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A78BFA"/>
                </a:solidFill>
              </a:rPr>
              <a:t>Backend (Django + Ninja)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Django 6 with Django Ninja Extra API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Controller → Service → Model pattern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JWT authentication (ninja-jwt)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Anthropic Claude for AI tutoring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SQLite database (dev), PostgreSQL (prod)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A78BFA"/>
                </a:solidFill>
              </a:rPr>
              <a:t>Frontend (Next.js + React)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Next.js Pages Router with dynamic routes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React Context for auth and state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React Three Fiber for 3D visualizations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CSS Modules for scoped styling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Centralized API client with auto token refresh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The Six Backend Apps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The Scwripts backend is organized into </a:t>
            </a:r>
            <a:r>
              <a:rPr sz="2000" b="1" i="0">
                <a:solidFill>
                  <a:srgbClr val="CBD5E1"/>
                </a:solidFill>
              </a:rPr>
              <a:t>six Django apps</a:t>
            </a:r>
            <a:r>
              <a:rPr sz="2000" b="0" i="0">
                <a:solidFill>
                  <a:srgbClr val="CBD5E1"/>
                </a:solidFill>
              </a:rPr>
              <a:t>, each owning a specific domain.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App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Key Models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accounts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User registration and JWT auth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User (Django built-in)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courses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Course catalog, modules, slides, enrollment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Course, Module, Slide, Enrollment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quizzes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Assessments and grading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Quiz, Question, Choice, Attempt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agentic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AI tutor chat with streaming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ChatSession, ChatMessage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gamification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XP, levels, achievements, leagues, quests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UserXP, Achievement, DailyQuest, UserAgent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engagement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Facial analysis and adaptive learning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EngagementSnapshot, EngagementSummary, EngagementConsent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How Agents Built This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</a:rPr>
              <a:t>Every major feature in Scwripts was built with AI agent assistance. Let’s trace how agents contributed to the codebase.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Course Content Generation: </a:t>
            </a:r>
            <a:r>
              <a:rPr sz="1700" b="0" i="0">
                <a:solidFill>
                  <a:srgbClr val="CBD5E1"/>
                </a:solidFill>
              </a:rPr>
              <a:t>An agent produced the entire AAI-101 slide deck and quiz as structured JSON — stored in seed_agentic_course.py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Backend Architecture: </a:t>
            </a:r>
            <a:r>
              <a:rPr sz="1700" b="0" i="0">
                <a:solidFill>
                  <a:srgbClr val="CBD5E1"/>
                </a:solidFill>
              </a:rPr>
              <a:t>Agents scaffolded the Controller → Service → Model pattern across all six apps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AI Tutor Service: </a:t>
            </a:r>
            <a:r>
              <a:rPr sz="1700" b="0" i="0">
                <a:solidFill>
                  <a:srgbClr val="CBD5E1"/>
                </a:solidFill>
              </a:rPr>
              <a:t>The LLMService streaming implementation was pair-programmed with an agent using Anthropic’s SDK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Gamification System: </a:t>
            </a:r>
            <a:r>
              <a:rPr sz="1700" b="0" i="0">
                <a:solidFill>
                  <a:srgbClr val="CBD5E1"/>
                </a:solidFill>
              </a:rPr>
              <a:t>XP thresholds, level titles, and achievement criteria were designed and coded by an agent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3D Visualizations: </a:t>
            </a:r>
            <a:r>
              <a:rPr sz="1700" b="0" i="0">
                <a:solidFill>
                  <a:srgbClr val="CBD5E1"/>
                </a:solidFill>
              </a:rPr>
              <a:t>React Three Fiber scenes (ReAct loop, Multi-Agent System, Planning Tree) were agent-generated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This Course: </a:t>
            </a:r>
            <a:r>
              <a:rPr sz="1700" b="0" i="0">
                <a:solidFill>
                  <a:srgbClr val="CBD5E1"/>
                </a:solidFill>
              </a:rPr>
              <a:t>The slides you’re reading right now were generated by an agent and reviewed by a human instructor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54864" cy="914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40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0A5FA"/>
                </a:solidFill>
              </a:rPr>
              <a:t>Transparency: </a:t>
            </a:r>
            <a:r>
              <a:rPr sz="1800" b="0" i="0">
                <a:solidFill>
                  <a:srgbClr val="CBD5E1"/>
                </a:solidFill>
              </a:rPr>
              <a:t>In this course, you’ll always know what the agent built vs. what a human built. This is a core principle of responsible AI-augmented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Inside the Slide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</a:rPr>
              <a:t>Let’s understand exactly how course content flows from agent generation to what you see on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Agent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Generates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972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24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Seed Command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Loads into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876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API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Serves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476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628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SlideContent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Renders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Step 1 — Generation: </a:t>
            </a:r>
            <a:r>
              <a:rPr sz="1700" b="0" i="0">
                <a:solidFill>
                  <a:srgbClr val="CBD5E1"/>
                </a:solidFill>
              </a:rPr>
              <a:t>An agent produces an array of slide objects with type, heading, paragraphs, bullets, diagram, columns, tableHeaders/Rows, highlightBox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Step 2 — Seeding: </a:t>
            </a:r>
            <a:r>
              <a:rPr sz="1700" b="0" i="0">
                <a:solidFill>
                  <a:srgbClr val="CBD5E1"/>
                </a:solidFill>
              </a:rPr>
              <a:t>A Django management command (python manage.py seed_*) creates Course, Module, and Slide records in the database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Step 3 — API: </a:t>
            </a:r>
            <a:r>
              <a:rPr sz="1700" b="0" i="0">
                <a:solidFill>
                  <a:srgbClr val="CBD5E1"/>
                </a:solidFill>
              </a:rPr>
              <a:t>The CourseController serves slides as JSON via /api/courses/{slug}/slides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Step 4 — Rendering: </a:t>
            </a:r>
            <a:r>
              <a:rPr sz="1700" b="0" i="0">
                <a:solidFill>
                  <a:srgbClr val="CBD5E1"/>
                </a:solidFill>
              </a:rPr>
              <a:t>The SlideContent React component reads the JSON and renders the appropriate layout for each slide 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The Slide JSON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When an agent generates course slides, it must produce JSON that matches this schema exactly. This is </a:t>
            </a:r>
            <a:r>
              <a:rPr sz="2000" b="1" i="0">
                <a:solidFill>
                  <a:srgbClr val="CBD5E1"/>
                </a:solidFill>
              </a:rPr>
              <a:t>structured output</a:t>
            </a:r>
            <a:r>
              <a:rPr sz="2000" b="0" i="0">
                <a:solidFill>
                  <a:srgbClr val="CBD5E1"/>
                </a:solidFill>
              </a:rPr>
              <a:t> in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A78BFA"/>
                </a:solidFill>
              </a:rPr>
              <a:t>Title / End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type: 'title' or 'end'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title: Main heading text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subtitle: Secondary text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meta: Course code and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A78BFA"/>
                </a:solidFill>
              </a:rPr>
              <a:t>Content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type: 'content'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heading: Slide heading (required)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paragraphs: Array of HTML strings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bullets: Array of HTML strings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diagram: Array of {label, sub, accent?}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columns: Array of {title, items[]}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tableHeaders + tableRows: Table data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highlightBox: Callout HTML string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303520"/>
            <a:ext cx="54864" cy="914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440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0A5FA"/>
                </a:solidFill>
              </a:rPr>
              <a:t>Lab 1 Challenge: </a:t>
            </a:r>
            <a:r>
              <a:rPr sz="1800" b="0" i="0">
                <a:solidFill>
                  <a:srgbClr val="CBD5E1"/>
                </a:solidFill>
              </a:rPr>
              <a:t>You’ll build an agent that generates valid slide JSON, validates it against this schema, and loads it into the database via a seed command.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The Streaming Chat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</a:rPr>
              <a:t>The AI Tutor is one of Scwripts’ most sophisticated features. Let’s trace how a student message becomes a streamed AI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Student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Sends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972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24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ChatController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Authenticates + saves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876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LLMService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Calls Claude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476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628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SSE Stream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Token-by-token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Frontend: </a:t>
            </a:r>
            <a:r>
              <a:rPr sz="1700" b="0" i="0">
                <a:solidFill>
                  <a:srgbClr val="CBD5E1"/>
                </a:solidFill>
              </a:rPr>
              <a:t>streamChat() in api.js sends a POST to /api/chat/stream with the message history and slide context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Controller: </a:t>
            </a:r>
            <a:r>
              <a:rPr sz="1700" b="0" i="0">
                <a:solidFill>
                  <a:srgbClr val="CBD5E1"/>
                </a:solidFill>
              </a:rPr>
              <a:t>Authenticates the user, loads or creates a ChatSession, saves the user message as a ChatMessage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LLMService: </a:t>
            </a:r>
            <a:r>
              <a:rPr sz="1700" b="0" i="0">
                <a:solidFill>
                  <a:srgbClr val="CBD5E1"/>
                </a:solidFill>
              </a:rPr>
              <a:t>Builds the system prompt (including slide context and engagement data), calls anthropic.messages.stream()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Response: </a:t>
            </a:r>
            <a:r>
              <a:rPr sz="1700" b="0" i="0">
                <a:solidFill>
                  <a:srgbClr val="CBD5E1"/>
                </a:solidFill>
              </a:rPr>
              <a:t>Each text token is yielded as data: {token}\n\n (Server-Sent Events format), displayed in real-time on the frontend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The Gamification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</a:rPr>
              <a:t>Scwripts uses a comprehensive gamification system to keep students motivated. This entire system was designed and implemented with agent assistance.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How It Works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Agent Enhancement Opportunity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XP &amp; Levels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Users earn XP from lessons, quizzes, chat, challenges. Levels 1-50 with titles.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Agents could adjust XP rewards based on difficulty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Achievements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Badge-like rewards with criteria (e.g., 'Complete 5 quizzes')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Agents could generate new achievements based on usage patterns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Daily Quests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Time-limited challenges refreshed daily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Agents could personalize quests based on student progress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Leagues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Weekly leaderboards with tiers (Reactive → Superintelligence)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Agents could balance matchmaking for fair competition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Agent Companion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Virtual agent that levels up with the student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Students build capabilities for their companion agent in labs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The Engagement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Scwripts includes an </a:t>
            </a:r>
            <a:r>
              <a:rPr sz="2000" b="1" i="0">
                <a:solidFill>
                  <a:srgbClr val="CBD5E1"/>
                </a:solidFill>
              </a:rPr>
              <a:t>opt-in</a:t>
            </a:r>
            <a:r>
              <a:rPr sz="2000" b="0" i="0">
                <a:solidFill>
                  <a:srgbClr val="CBD5E1"/>
                </a:solidFill>
              </a:rPr>
              <a:t> engagement tracking system that uses facial analysis to measure student attention and adapt content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Consent First: </a:t>
            </a:r>
            <a:r>
              <a:rPr sz="1700" b="0" i="0">
                <a:solidFill>
                  <a:srgbClr val="CBD5E1"/>
                </a:solidFill>
              </a:rPr>
              <a:t>The EngagementConsent model ensures students explicitly opt in before any tracking begins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Facial Analysis: </a:t>
            </a:r>
            <a:r>
              <a:rPr sz="1700" b="0" i="0">
                <a:solidFill>
                  <a:srgbClr val="CBD5E1"/>
                </a:solidFill>
              </a:rPr>
              <a:t>The FaceService processes webcam snapshots to detect emotion, gaze direction, and overall engagement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Snapshots: </a:t>
            </a:r>
            <a:r>
              <a:rPr sz="1700" b="0" i="0">
                <a:solidFill>
                  <a:srgbClr val="CBD5E1"/>
                </a:solidFill>
              </a:rPr>
              <a:t>Each analysis creates an EngagementSnapshot with emotion, confidence, gaze pitch/yaw, and engagement score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Daily Summaries: </a:t>
            </a:r>
            <a:r>
              <a:rPr sz="1700" b="0" i="0">
                <a:solidFill>
                  <a:srgbClr val="CBD5E1"/>
                </a:solidFill>
              </a:rPr>
              <a:t>The system aggregates snapshots into EngagementSummary records with average engagement, dominant emotion, and attention drops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Adaptive Response: </a:t>
            </a:r>
            <a:r>
              <a:rPr sz="1700" b="0" i="0">
                <a:solidFill>
                  <a:srgbClr val="CBD5E1"/>
                </a:solidFill>
              </a:rPr>
              <a:t>The AdaptiveService adjusts AI tutor behavior based on engagement — e.g., simplifying explanations when confusion is detected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54864" cy="914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66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0A5FA"/>
                </a:solidFill>
              </a:rPr>
              <a:t>Privacy by Design: </a:t>
            </a:r>
            <a:r>
              <a:rPr sz="1800" b="0" i="0">
                <a:solidFill>
                  <a:srgbClr val="CBD5E1"/>
                </a:solidFill>
              </a:rPr>
              <a:t>Raw images are never stored. Only derived metrics are saved. Students can revoke consent at any time, and all their engagement data is deleted.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Open-Source Contribution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</a:rPr>
              <a:t>In this course, you contribute to Scwripts like any open-source project. Here’s the workflow you’ll follow for every lab and assignment.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Fork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Copy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972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24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Branch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Create feature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876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Build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Code with agent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476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628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PR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Submit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1. Fork </a:t>
            </a:r>
            <a:r>
              <a:rPr sz="1700" b="0" i="0">
                <a:solidFill>
                  <a:srgbClr val="CBD5E1"/>
                </a:solidFill>
              </a:rPr>
              <a:t>the Scwripts repository to your GitHub account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2. Branch </a:t>
            </a:r>
            <a:r>
              <a:rPr sz="1700" b="0" i="0">
                <a:solidFill>
                  <a:srgbClr val="CBD5E1"/>
                </a:solidFill>
              </a:rPr>
              <a:t>from main with a descriptive name (e.g., feat/study-guide-api)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3. Build </a:t>
            </a:r>
            <a:r>
              <a:rPr sz="1700" b="0" i="0">
                <a:solidFill>
                  <a:srgbClr val="CBD5E1"/>
                </a:solidFill>
              </a:rPr>
              <a:t>your feature using an AI agent as a pair programmer — document what the agent did vs. what you did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4. Test </a:t>
            </a:r>
            <a:r>
              <a:rPr sz="1700" b="0" i="0">
                <a:solidFill>
                  <a:srgbClr val="CBD5E1"/>
                </a:solidFill>
              </a:rPr>
              <a:t>your changes locally (backend + frontend) and write automated tests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5. Submit a PR </a:t>
            </a:r>
            <a:r>
              <a:rPr sz="1700" b="0" i="0">
                <a:solidFill>
                  <a:srgbClr val="CBD5E1"/>
                </a:solidFill>
              </a:rPr>
              <a:t>with a clear description, screenshots/demo, and the agent collaboration log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6. Review </a:t>
            </a:r>
            <a:r>
              <a:rPr sz="1700" b="0" i="0">
                <a:solidFill>
                  <a:srgbClr val="CBD5E1"/>
                </a:solidFill>
              </a:rPr>
              <a:t>at least one peer’s PR and incorporate feedback on your 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Building a Content Generation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</a:rPr>
              <a:t>Your first major lab is to build an agent that generates course content. Here’s the architecture of a content generation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Topic Input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User provides subject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972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24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Research Agent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Gathers key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876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Writer Agent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Generates slide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476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628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Validator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Checks schema +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Input: </a:t>
            </a:r>
            <a:r>
              <a:rPr sz="1700" b="0" i="0">
                <a:solidFill>
                  <a:srgbClr val="CBD5E1"/>
                </a:solidFill>
              </a:rPr>
              <a:t>A topic string and target audience level (beginner, intermediate, advanced)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Research Phase: </a:t>
            </a:r>
            <a:r>
              <a:rPr sz="1700" b="0" i="0">
                <a:solidFill>
                  <a:srgbClr val="CBD5E1"/>
                </a:solidFill>
              </a:rPr>
              <a:t>The agent identifies 8-15 key concepts, definitions, and examples for the topic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Generation Phase: </a:t>
            </a:r>
            <a:r>
              <a:rPr sz="1700" b="0" i="0">
                <a:solidFill>
                  <a:srgbClr val="CBD5E1"/>
                </a:solidFill>
              </a:rPr>
              <a:t>The agent produces slide JSON matching the Scwripts schema — using structured output / JSON mode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Validation Phase: </a:t>
            </a:r>
            <a:r>
              <a:rPr sz="1700" b="0" i="0">
                <a:solidFill>
                  <a:srgbClr val="CBD5E1"/>
                </a:solidFill>
              </a:rPr>
              <a:t>A separate pass checks that all required fields are present, HTML is valid, and content is accurate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Output: </a:t>
            </a:r>
            <a:r>
              <a:rPr sz="1700" b="0" i="0">
                <a:solidFill>
                  <a:srgbClr val="CBD5E1"/>
                </a:solidFill>
              </a:rPr>
              <a:t>A Python seed command file that can be run with python manage.py seed_[topic]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486400"/>
            <a:ext cx="10515600" cy="82296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23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0A5FA"/>
                </a:solidFill>
              </a:rPr>
              <a:t>Lab 1: </a:t>
            </a:r>
            <a:r>
              <a:rPr sz="1800" b="0" i="0">
                <a:solidFill>
                  <a:srgbClr val="CBD5E1"/>
                </a:solidFill>
              </a:rPr>
              <a:t>Build this pipeline. Your agent must generate at least 10 valid content slides and 8 quiz questions for any given topic.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Agent Pair Programming: Backend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</a:rPr>
              <a:t>In Lab 2, you’ll implement a complete backend feature with an AI agent as your pair programmer. Here’s how the collaboration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A78BFA"/>
                </a:solidFill>
              </a:rPr>
              <a:t>What the Agent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Scaffolds model, schema, controller, and service files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Generates database migration code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Writes initial test cases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Suggests API endpoint designs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Handles boilerplate and repetitive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A78BFA"/>
                </a:solidFill>
              </a:rPr>
              <a:t>What 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Define the feature requirements and data model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Review and correct agent-generated code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Make architectural decisions (where logic lives)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Write edge case tests the agent missed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Ensure security, privacy, and error handling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303520"/>
            <a:ext cx="54864" cy="914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440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0A5FA"/>
                </a:solidFill>
              </a:rPr>
              <a:t>Lab 2: </a:t>
            </a:r>
            <a:r>
              <a:rPr sz="1800" b="0" i="0">
                <a:solidFill>
                  <a:srgbClr val="CBD5E1"/>
                </a:solidFill>
              </a:rPr>
              <a:t>Implement a StudyGuide feature — model, schema, controller, service, migration, and tests. Document every agent interaction.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Agent Pair Programming: Frontend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</a:rPr>
              <a:t>In Lab 3, you’ll build a complete frontend feature. The agent helps with component structure, styling, and API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Page Design: </a:t>
            </a:r>
            <a:r>
              <a:rPr sz="1700" b="0" i="0">
                <a:solidFill>
                  <a:srgbClr val="CBD5E1"/>
                </a:solidFill>
              </a:rPr>
              <a:t>Tell the agent what the page should do — it generates a React component with the right imports, hooks, and layout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API Integration: </a:t>
            </a:r>
            <a:r>
              <a:rPr sz="1700" b="0" i="0">
                <a:solidFill>
                  <a:srgbClr val="CBD5E1"/>
                </a:solidFill>
              </a:rPr>
              <a:t>The agent wires up calls to api.js with proper auth token handling and error states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Styling: </a:t>
            </a:r>
            <a:r>
              <a:rPr sz="1700" b="0" i="0">
                <a:solidFill>
                  <a:srgbClr val="CBD5E1"/>
                </a:solidFill>
              </a:rPr>
              <a:t>The agent creates a CSS Module matching the existing Scwripts design system (dark theme, consistent spacing, responsive layout)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State Management: </a:t>
            </a:r>
            <a:r>
              <a:rPr sz="1700" b="0" i="0">
                <a:solidFill>
                  <a:srgbClr val="CBD5E1"/>
                </a:solidFill>
              </a:rPr>
              <a:t>The agent suggests when to use local state vs. Context vs. a new provider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Your Role: </a:t>
            </a:r>
            <a:r>
              <a:rPr sz="1700" b="0" i="0">
                <a:solidFill>
                  <a:srgbClr val="CBD5E1"/>
                </a:solidFill>
              </a:rPr>
              <a:t>Define UX requirements, review accessibility, test edge cases (loading, error, empty states), and ensure mobile responsiveness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54864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66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0A5FA"/>
                </a:solidFill>
              </a:rPr>
              <a:t>Lab 3: </a:t>
            </a:r>
            <a:r>
              <a:rPr sz="1800" b="0" i="0">
                <a:solidFill>
                  <a:srgbClr val="CBD5E1"/>
                </a:solidFill>
              </a:rPr>
              <a:t>Build an "Agent Lab" page — an interactive sandbox where students can test agent prompts, see tool calls visualized, and compare different agent strategies.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Multi-Agent Content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The capstone of this course is building a </a:t>
            </a:r>
            <a:r>
              <a:rPr sz="2000" b="1" i="0">
                <a:solidFill>
                  <a:srgbClr val="CBD5E1"/>
                </a:solidFill>
              </a:rPr>
              <a:t>multi-agent pipeline</a:t>
            </a:r>
            <a:r>
              <a:rPr sz="2000" b="0" i="0">
                <a:solidFill>
                  <a:srgbClr val="CBD5E1"/>
                </a:solidFill>
              </a:rPr>
              <a:t> that can generate an entire course module autonomously.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Orchestrator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Manages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972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24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Researcher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Gathers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876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Writer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Generates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4767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6287" y="21031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Reviewer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Validates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Orchestrator Agent: </a:t>
            </a:r>
            <a:r>
              <a:rPr sz="1700" b="0" i="0">
                <a:solidFill>
                  <a:srgbClr val="CBD5E1"/>
                </a:solidFill>
              </a:rPr>
              <a:t>Receives a topic, breaks it into subtasks, delegates to specialists, and manages the review loop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Research Agent: </a:t>
            </a:r>
            <a:r>
              <a:rPr sz="1700" b="0" i="0">
                <a:solidFill>
                  <a:srgbClr val="CBD5E1"/>
                </a:solidFill>
              </a:rPr>
              <a:t>Searches for key concepts, definitions, real-world examples, and common misconceptions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Writer Agent: </a:t>
            </a:r>
            <a:r>
              <a:rPr sz="1700" b="0" i="0">
                <a:solidFill>
                  <a:srgbClr val="CBD5E1"/>
                </a:solidFill>
              </a:rPr>
              <a:t>Produces slide JSON and quiz questions in the Scwripts schema format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Reviewer Agent: </a:t>
            </a:r>
            <a:r>
              <a:rPr sz="1700" b="0" i="0">
                <a:solidFill>
                  <a:srgbClr val="CBD5E1"/>
                </a:solidFill>
              </a:rPr>
              <a:t>Validates content accuracy, checks schema compliance, scores quality, and requests revisions if needed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Quiz Agent: </a:t>
            </a:r>
            <a:r>
              <a:rPr sz="1700" b="0" i="0">
                <a:solidFill>
                  <a:srgbClr val="CBD5E1"/>
                </a:solidFill>
              </a:rPr>
              <a:t>Generates assessment questions with explanations, ensuring coverage of all key concepts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54864" cy="914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23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0A5FA"/>
                </a:solidFill>
              </a:rPr>
              <a:t>Lab 4: </a:t>
            </a:r>
            <a:r>
              <a:rPr sz="1800" b="0" i="0">
                <a:solidFill>
                  <a:srgbClr val="CBD5E1"/>
                </a:solidFill>
              </a:rPr>
              <a:t>Build this multi-agent pipeline. Given a single topic prompt, it must produce a complete module: 10+ slides, 8+ quiz questions, and a study guide — all schema-valid and quality-reviewed.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Testing Agent-Generated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</a:rPr>
              <a:t>Agent outputs are non-deterministic. You can’t test them with exact string matching. Here’s how to test effectively.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Testing Strategy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What It Validates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Schema Validation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Output structure matches expected format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Every slide has a 'type' and 'content' field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Constraint Checking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Output meets defined boundaries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Quiz has 4 choices per question, exactly 1 correct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Quality Scoring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Content meets a minimum quality bar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Slide has &gt;= 3 bullets, heading &lt;= 60 chars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Regression Testing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New outputs don't break existing features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Generated slides render correctly in SlideContent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Human-in-the-Loop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Final review before production deployment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Instructor reviews and approves generated content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Agent-in-the-Loop DevOps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</a:rPr>
              <a:t>Beyond content generation, agents can participate in the entire software development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Issue Triage: </a:t>
            </a:r>
            <a:r>
              <a:rPr sz="1700" b="0" i="0">
                <a:solidFill>
                  <a:srgbClr val="CBD5E1"/>
                </a:solidFill>
              </a:rPr>
              <a:t>An agent reads new GitHub issues, categorizes them (bug/feature/docs), estimates complexity, and suggests assignees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PR Generation: </a:t>
            </a:r>
            <a:r>
              <a:rPr sz="1700" b="0" i="0">
                <a:solidFill>
                  <a:srgbClr val="CBD5E1"/>
                </a:solidFill>
              </a:rPr>
              <a:t>Given an issue description, an agent creates a branch, implements the change, writes tests, and opens a PR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Code Review: </a:t>
            </a:r>
            <a:r>
              <a:rPr sz="1700" b="0" i="0">
                <a:solidFill>
                  <a:srgbClr val="CBD5E1"/>
                </a:solidFill>
              </a:rPr>
              <a:t>An agent reviews PRs for correctness, security vulnerabilities, style consistency, and test coverage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CI/CD Integration: </a:t>
            </a:r>
            <a:r>
              <a:rPr sz="1700" b="0" i="0">
                <a:solidFill>
                  <a:srgbClr val="CBD5E1"/>
                </a:solidFill>
              </a:rPr>
              <a:t>Agent-powered checks run alongside traditional CI — e.g., verifying that generated content meets quality thresholds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Documentation: </a:t>
            </a:r>
            <a:r>
              <a:rPr sz="1700" b="0" i="0">
                <a:solidFill>
                  <a:srgbClr val="CBD5E1"/>
                </a:solidFill>
              </a:rPr>
              <a:t>Agents auto-generate API docs, README updates, and changelog entries from commit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54864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66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BD5E1"/>
                </a:solidFill>
              </a:rPr>
              <a:t>In a mature agent-augmented workflow, humans focus on </a:t>
            </a:r>
            <a:r>
              <a:rPr sz="1800" b="1" i="0">
                <a:solidFill>
                  <a:srgbClr val="CBD5E1"/>
                </a:solidFill>
              </a:rPr>
              <a:t>design decisions, edge cases, and quality judgment</a:t>
            </a:r>
            <a:r>
              <a:rPr sz="1800" b="0" i="0">
                <a:solidFill>
                  <a:srgbClr val="CBD5E1"/>
                </a:solidFill>
              </a:rPr>
              <a:t> while agents handle </a:t>
            </a:r>
            <a:r>
              <a:rPr sz="1800" b="1" i="0">
                <a:solidFill>
                  <a:srgbClr val="CBD5E1"/>
                </a:solidFill>
              </a:rPr>
              <a:t>scaffolding, boilerplate, and routine checks</a:t>
            </a:r>
            <a:r>
              <a:rPr sz="1800" b="0" i="0">
                <a:solidFill>
                  <a:srgbClr val="CBD5E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The Self-Improving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The ultimate vision for Scwripts is a </a:t>
            </a:r>
            <a:r>
              <a:rPr sz="2000" b="1" i="0">
                <a:solidFill>
                  <a:srgbClr val="CBD5E1"/>
                </a:solidFill>
              </a:rPr>
              <a:t>self-improving platform</a:t>
            </a:r>
            <a:r>
              <a:rPr sz="2000" b="0" i="0">
                <a:solidFill>
                  <a:srgbClr val="CBD5E1"/>
                </a:solidFill>
              </a:rPr>
              <a:t> — where agents learn from student engagement data to generate better content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28600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Students Learn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Engagement data collected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9727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247" y="228600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Agents Analyze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Identify weak spots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7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8767" y="228600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Agents Generate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Better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4767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6287" y="228600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Students Learn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Improved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Feedback Loop: </a:t>
            </a:r>
            <a:r>
              <a:rPr sz="1700" b="0" i="0">
                <a:solidFill>
                  <a:srgbClr val="CBD5E1"/>
                </a:solidFill>
              </a:rPr>
              <a:t>Quiz scores, engagement snapshots, and chat patterns reveal which content works and which doesn’t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Adaptive Generation: </a:t>
            </a:r>
            <a:r>
              <a:rPr sz="1700" b="0" i="0">
                <a:solidFill>
                  <a:srgbClr val="CBD5E1"/>
                </a:solidFill>
              </a:rPr>
              <a:t>Agents regenerate slides that have low engagement or high confusion scores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Difficulty Calibration: </a:t>
            </a:r>
            <a:r>
              <a:rPr sz="1700" b="0" i="0">
                <a:solidFill>
                  <a:srgbClr val="CBD5E1"/>
                </a:solidFill>
              </a:rPr>
              <a:t>Quiz questions are automatically adjusted based on pass/fail rates across cohorts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Personalization: </a:t>
            </a:r>
            <a:r>
              <a:rPr sz="1700" b="0" i="0">
                <a:solidFill>
                  <a:srgbClr val="CBD5E1"/>
                </a:solidFill>
              </a:rPr>
              <a:t>The AI tutor adapts its teaching style based on individual student engagement patterns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 b="1" i="0">
                <a:solidFill>
                  <a:srgbClr val="60A5FA"/>
                </a:solidFill>
              </a:rPr>
              <a:t>Recursive Growth: </a:t>
            </a:r>
            <a:r>
              <a:rPr sz="1700" b="0" i="0">
                <a:solidFill>
                  <a:srgbClr val="CBD5E1"/>
                </a:solidFill>
              </a:rPr>
              <a:t>Each cohort’s contributions make the platform better for the next cohort — a true open-source flywheel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Course Structure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Week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The Codebase is the Classroom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Lab 0: First PR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How Agents Generate Course Content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Lab 1: Content Generation Agent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Agent-Powered Backend Development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Lab 2: Backend Feature PR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Agent-Powered Frontend Development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Lab 3: Frontend Feature PR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The Gamification Engine &amp; Personalization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Midterm Feature PR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Multi-Agent Content Pipelines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Lab 4: Multi-Agent Pipeline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Agent-in-the-Loop DevOps &amp; Testing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Test Harness PR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Capstone &amp; The Self-Improving Platform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Capstone PR + Presentation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What You Will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1" i="0">
                <a:solidFill>
                  <a:srgbClr val="60A5FA"/>
                </a:solidFill>
              </a:rPr>
              <a:t>Lab 0: </a:t>
            </a:r>
            <a:r>
              <a:rPr sz="1900" b="0" i="0">
                <a:solidFill>
                  <a:srgbClr val="CBD5E1"/>
                </a:solidFill>
              </a:rPr>
              <a:t>Fork the Scwripts repo, run it locally, and submit your first pull request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1" i="0">
                <a:solidFill>
                  <a:srgbClr val="60A5FA"/>
                </a:solidFill>
              </a:rPr>
              <a:t>Lab 1: </a:t>
            </a:r>
            <a:r>
              <a:rPr sz="1900" b="0" i="0">
                <a:solidFill>
                  <a:srgbClr val="CBD5E1"/>
                </a:solidFill>
              </a:rPr>
              <a:t>A content generation agent that produces valid slide JSON and quiz questions from any topic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1" i="0">
                <a:solidFill>
                  <a:srgbClr val="60A5FA"/>
                </a:solidFill>
              </a:rPr>
              <a:t>Lab 2: </a:t>
            </a:r>
            <a:r>
              <a:rPr sz="1900" b="0" i="0">
                <a:solidFill>
                  <a:srgbClr val="CBD5E1"/>
                </a:solidFill>
              </a:rPr>
              <a:t>A complete backend feature (model + schema + controller + service + tests) built with agent pair programming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1" i="0">
                <a:solidFill>
                  <a:srgbClr val="60A5FA"/>
                </a:solidFill>
              </a:rPr>
              <a:t>Lab 3: </a:t>
            </a:r>
            <a:r>
              <a:rPr sz="1900" b="0" i="0">
                <a:solidFill>
                  <a:srgbClr val="CBD5E1"/>
                </a:solidFill>
              </a:rPr>
              <a:t>A complete frontend feature (page + components + API integration + styles) built with agent pair programming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1" i="0">
                <a:solidFill>
                  <a:srgbClr val="60A5FA"/>
                </a:solidFill>
              </a:rPr>
              <a:t>Lab 4: </a:t>
            </a:r>
            <a:r>
              <a:rPr sz="1900" b="0" i="0">
                <a:solidFill>
                  <a:srgbClr val="CBD5E1"/>
                </a:solidFill>
              </a:rPr>
              <a:t>A multi-agent pipeline that generates a full course module with research, writing, review, and assessment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1" i="0">
                <a:solidFill>
                  <a:srgbClr val="60A5FA"/>
                </a:solidFill>
              </a:rPr>
              <a:t>Capstone: </a:t>
            </a:r>
            <a:r>
              <a:rPr sz="1900" b="0" i="0">
                <a:solidFill>
                  <a:srgbClr val="CBD5E1"/>
                </a:solidFill>
              </a:rPr>
              <a:t>A significant feature contribution to Scwripts — shipped, tested, reviewed, and merged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0515600" cy="109728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54864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BD5E1"/>
                </a:solidFill>
              </a:rPr>
              <a:t>By the end of this course, you won’t just understand how agents build software — you’ll have </a:t>
            </a:r>
            <a:r>
              <a:rPr sz="1800" b="1" i="0">
                <a:solidFill>
                  <a:srgbClr val="CBD5E1"/>
                </a:solidFill>
              </a:rPr>
              <a:t>shipped real features</a:t>
            </a:r>
            <a:r>
              <a:rPr sz="1800" b="0" i="0">
                <a:solidFill>
                  <a:srgbClr val="CBD5E1"/>
                </a:solidFill>
              </a:rPr>
              <a:t> to a platform used by other students, with agents as your collaborators.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60A5FA"/>
                </a:solidFill>
              </a:rPr>
              <a:t>Let’s Build in the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</a:rPr>
              <a:t>Welcome to Agentic AI: Agents Building in the Open — OLI-AAI-201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</a:rPr>
              <a:t>OpenClaw Learning Initiative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